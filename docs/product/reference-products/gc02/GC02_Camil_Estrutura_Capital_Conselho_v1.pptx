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20d97394c4eff" /><Relationship Type="http://schemas.openxmlformats.org/officeDocument/2006/relationships/extended-properties" Target="/docProps/app.xml" Id="R6519921fd4b44273" /><Relationship Type="http://schemas.openxmlformats.org/officeDocument/2006/relationships/officeDocument" Target="/ppt/presentation.xml" Id="R3eb72d03970b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b5b79b53a4a57"/>
  </p:sldMasterIdLst>
  <p:notesMasterIdLst>
    <p:notesMasterId xmlns:r="http://schemas.openxmlformats.org/officeDocument/2006/relationships" r:id="Rf886461f43db4904"/>
  </p:notesMasterIdLst>
  <p:sldIdLst>
    <p:sldId xmlns:r="http://schemas.openxmlformats.org/officeDocument/2006/relationships" id="256" r:id="R0a23546cbc6a4b06"/>
    <p:sldId xmlns:r="http://schemas.openxmlformats.org/officeDocument/2006/relationships" id="257" r:id="Rf05f57164395469e"/>
    <p:sldId xmlns:r="http://schemas.openxmlformats.org/officeDocument/2006/relationships" id="258" r:id="Rb70f812ef596428a"/>
    <p:sldId xmlns:r="http://schemas.openxmlformats.org/officeDocument/2006/relationships" id="259" r:id="Rce0209f8d6e046b3"/>
    <p:sldId xmlns:r="http://schemas.openxmlformats.org/officeDocument/2006/relationships" id="260" r:id="Rdba35c075ceb4ff2"/>
    <p:sldId xmlns:r="http://schemas.openxmlformats.org/officeDocument/2006/relationships" id="261" r:id="R719dfc43c0314c85"/>
    <p:sldId xmlns:r="http://schemas.openxmlformats.org/officeDocument/2006/relationships" id="262" r:id="R0fc767aac7354d7a"/>
    <p:sldId xmlns:r="http://schemas.openxmlformats.org/officeDocument/2006/relationships" id="263" r:id="R7a19d9337e9149bc"/>
    <p:sldId xmlns:r="http://schemas.openxmlformats.org/officeDocument/2006/relationships" id="264" r:id="R1d8d610877ea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9a930b58f41c5" /><Relationship Type="http://schemas.openxmlformats.org/officeDocument/2006/relationships/slideMaster" Target="/ppt/slideMasters/slideMaster1.xml" Id="Ref8b5b79b53a4a57" /><Relationship Type="http://schemas.openxmlformats.org/officeDocument/2006/relationships/notesMaster" Target="/ppt/notesMasters/notesMaster1.xml" Id="Rf886461f43db4904" /><Relationship Type="http://schemas.openxmlformats.org/officeDocument/2006/relationships/presProps" Target="/ppt/presProps.xml" Id="R8edf3db48dc4421a" /><Relationship Type="http://schemas.openxmlformats.org/officeDocument/2006/relationships/tableStyles" Target="/ppt/tableStyles.xml" Id="Rcfd4803c5c77445d" /><Relationship Type="http://schemas.openxmlformats.org/officeDocument/2006/relationships/slide" Target="/ppt/slides/slide1.xml" Id="R0a23546cbc6a4b06" /><Relationship Type="http://schemas.openxmlformats.org/officeDocument/2006/relationships/slide" Target="/ppt/slides/slide2.xml" Id="Rf05f57164395469e" /><Relationship Type="http://schemas.openxmlformats.org/officeDocument/2006/relationships/slide" Target="/ppt/slides/slide3.xml" Id="Rb70f812ef596428a" /><Relationship Type="http://schemas.openxmlformats.org/officeDocument/2006/relationships/slide" Target="/ppt/slides/slide4.xml" Id="Rce0209f8d6e046b3" /><Relationship Type="http://schemas.openxmlformats.org/officeDocument/2006/relationships/slide" Target="/ppt/slides/slide5.xml" Id="Rdba35c075ceb4ff2" /><Relationship Type="http://schemas.openxmlformats.org/officeDocument/2006/relationships/slide" Target="/ppt/slides/slide6.xml" Id="R719dfc43c0314c85" /><Relationship Type="http://schemas.openxmlformats.org/officeDocument/2006/relationships/slide" Target="/ppt/slides/slide7.xml" Id="R0fc767aac7354d7a" /><Relationship Type="http://schemas.openxmlformats.org/officeDocument/2006/relationships/slide" Target="/ppt/slides/slide8.xml" Id="R7a19d9337e9149bc" /><Relationship Type="http://schemas.openxmlformats.org/officeDocument/2006/relationships/slide" Target="/ppt/slides/slide9.xml" Id="R1d8d610877ea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470c423af47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f67d7cdee4dac" /><Relationship Type="http://schemas.openxmlformats.org/officeDocument/2006/relationships/notesMaster" Target="/ppt/notesMasters/notesMaster1.xml" Id="Rcd3a0b8158eb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993bab3474372" /><Relationship Type="http://schemas.openxmlformats.org/officeDocument/2006/relationships/notesMaster" Target="/ppt/notesMasters/notesMaster1.xml" Id="R42e3bd637bf0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3736a204674edc" /><Relationship Type="http://schemas.openxmlformats.org/officeDocument/2006/relationships/notesMaster" Target="/ppt/notesMasters/notesMaster1.xml" Id="Ra7bfbfba75a8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31c7a8b414b35" /><Relationship Type="http://schemas.openxmlformats.org/officeDocument/2006/relationships/notesMaster" Target="/ppt/notesMasters/notesMaster1.xml" Id="R02063517a6e149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2b42f054064702" /><Relationship Type="http://schemas.openxmlformats.org/officeDocument/2006/relationships/notesMaster" Target="/ppt/notesMasters/notesMaster1.xml" Id="R37f8ca16fed648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0baf7d2114b69" /><Relationship Type="http://schemas.openxmlformats.org/officeDocument/2006/relationships/notesMaster" Target="/ppt/notesMasters/notesMaster1.xml" Id="R88da2f8a1ed4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9edba7eb94270" /><Relationship Type="http://schemas.openxmlformats.org/officeDocument/2006/relationships/notesMaster" Target="/ppt/notesMasters/notesMaster1.xml" Id="R2ec5675341ff46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338d65464948ed" /><Relationship Type="http://schemas.openxmlformats.org/officeDocument/2006/relationships/notesMaster" Target="/ppt/notesMasters/notesMaster1.xml" Id="R0a94f016d4ab4f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10562c02124e1a" /><Relationship Type="http://schemas.openxmlformats.org/officeDocument/2006/relationships/notesMaster" Target="/ppt/notesMasters/notesMaster1.xml" Id="R618e0515d2c7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Snapshot governado: f154d6dd4e7a11ca63f7f4f15c9d23d413425e33109273f2678d107cbdbd9343</a:t>
            </a:r>
          </a:p>
          <a:p xmlns:a="http://schemas.openxmlformats.org/drawingml/2006/main">
            <a:r>
              <a:t>FIXTURE SINTÉTICA PARA TESTE DE PLATAFORMA. Dados gerenciais inventados, calibrados às demonstrações públicas da Camil (ITR de 31/05/2026). Não representam informação da companhia.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SRC-01 a SRC-08. Ver aba Fontes do Excel.</a:t>
            </a:r>
          </a:p>
          <a:p xmlns:a="http://schemas.openxmlformats.org/drawingml/2006/main">
            <a:r>
              <a:t>FIXTURE SINTÉTICA PARA TESTE DE PLATAFORMA. Dados gerenciais inventados, calibrados às demonstrações públicas da Camil (ITR de 31/05/2026). Não representam informação da companhia.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SRC-01, nota 15, pp. 39-40; SRC-02, p. 12.</a:t>
            </a:r>
          </a:p>
          <a:p xmlns:a="http://schemas.openxmlformats.org/drawingml/2006/main">
            <a:r>
              <a:t>Dívida contratual exclui custos de transação. 4,72x permanece company_reported_not_recomputed.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SRC-01, nota 15, p. 40; SRC-07, aba Cronograma.</a:t>
            </a:r>
          </a:p>
          <a:p xmlns:a="http://schemas.openxmlformats.org/drawingml/2006/main">
            <a:r>
              <a:t>O cronograma contratual é sintético e reconcilia ao cronograma público após a ponte de custos.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SRC-04 a SRC-08; cenário Offroad Base.</a:t>
            </a:r>
          </a:p>
          <a:p xmlns:a="http://schemas.openxmlformats.org/drawingml/2006/main">
            <a:r>
              <a:t>Rollover: 100% do principal. Custo: CDI spot de 13,91% + 1,50%. Dívida nova bullet após o horizonte.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Modelo determinístico do Excel e snapshot governado.</a:t>
            </a:r>
          </a:p>
          <a:p xmlns:a="http://schemas.openxmlformats.org/drawingml/2006/main">
            <a:r>
              <a:t>A alavancagem projetada não equivale ao covenant contratual. Usa dívida líquida contratual e EBITDA do cenário.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Coverage map do GC-02.</a:t>
            </a:r>
          </a:p>
          <a:p xmlns:a="http://schemas.openxmlformats.org/drawingml/2006/main">
            <a:r>
              <a:t>Nenhuma lacuna foi preenchida por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Opções do snapshot GC-02.</a:t>
            </a:r>
          </a:p>
          <a:p xmlns:a="http://schemas.openxmlformats.org/drawingml/2006/main">
            <a:r>
              <a:t>Estados reference_only e blocked. Não há recomendação ou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</a:t>
            </a:r>
          </a:p>
          <a:p xmlns:a="http://schemas.openxmlformats.org/drawingml/2006/main">
            <a:r>
              <a:t>Framework de decisão Offroad para o GC-02.</a:t>
            </a:r>
          </a:p>
          <a:p xmlns:a="http://schemas.openxmlformats.org/drawingml/2006/main">
            <a:r>
              <a:t>Offroad apoia análise, estruturação e conexão. Diligência, opinião jurídica, negociação e distribuição final permanecem com as partes responsáveis.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c860ccbf44d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31b24222f4cf9" /><Relationship Type="http://schemas.openxmlformats.org/officeDocument/2006/relationships/slideLayout" Target="/ppt/slideLayouts/slideLayout1.xml" Id="Rd64015b7ad70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015b7ad70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02cab40ec4bf6" /><Relationship Type="http://schemas.openxmlformats.org/officeDocument/2006/relationships/image" Target="/ppt/media/image.png" Id="R6084c6032fd94652" /><Relationship Type="http://schemas.openxmlformats.org/officeDocument/2006/relationships/notesSlide" Target="/ppt/notesSlides/notesSlide1.xml" Id="R8ab3e505a32949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e19fef4324c4c" /><Relationship Type="http://schemas.openxmlformats.org/officeDocument/2006/relationships/notesSlide" Target="/ppt/notesSlides/notesSlide2.xml" Id="R789a024b52b248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7b8065da4d9c" /><Relationship Type="http://schemas.openxmlformats.org/officeDocument/2006/relationships/chart" Target="/ppt/slides/charts/chart1.xml" Id="R93fa31436c524134" /><Relationship Type="http://schemas.openxmlformats.org/officeDocument/2006/relationships/notesSlide" Target="/ppt/notesSlides/notesSlide3.xml" Id="Rc5fca1828437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f2213430e4cb0" /><Relationship Type="http://schemas.openxmlformats.org/officeDocument/2006/relationships/chart" Target="/ppt/slides/charts/chart2.xml" Id="R20f131ecea024986" /><Relationship Type="http://schemas.openxmlformats.org/officeDocument/2006/relationships/notesSlide" Target="/ppt/notesSlides/notesSlide4.xml" Id="R68fdf96ddfaf4d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ad1667f2a441c" /><Relationship Type="http://schemas.openxmlformats.org/officeDocument/2006/relationships/chart" Target="/ppt/slides/charts/chart3.xml" Id="Re99a6e82d9274283" /><Relationship Type="http://schemas.openxmlformats.org/officeDocument/2006/relationships/notesSlide" Target="/ppt/notesSlides/notesSlide5.xml" Id="Re3e4e5934e1c40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0993355f4be2" /><Relationship Type="http://schemas.openxmlformats.org/officeDocument/2006/relationships/chart" Target="/ppt/slides/charts/chart4.xml" Id="R3d0c143ce46b490c" /><Relationship Type="http://schemas.openxmlformats.org/officeDocument/2006/relationships/chart" Target="/ppt/slides/charts/chart5.xml" Id="Ra82dd2d1263c44c4" /><Relationship Type="http://schemas.openxmlformats.org/officeDocument/2006/relationships/notesSlide" Target="/ppt/notesSlides/notesSlide6.xml" Id="Rbb7b42dc0e29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3b197c02545a4" /><Relationship Type="http://schemas.openxmlformats.org/officeDocument/2006/relationships/notesSlide" Target="/ppt/notesSlides/notesSlide7.xml" Id="R661d25c8fdba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8d7bcf1ee4f61" /><Relationship Type="http://schemas.openxmlformats.org/officeDocument/2006/relationships/notesSlide" Target="/ppt/notesSlides/notesSlide8.xml" Id="Rf8f7b042b5ac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e203d49484c97" /><Relationship Type="http://schemas.openxmlformats.org/officeDocument/2006/relationships/notesSlide" Target="/ppt/notesSlides/notesSlide9.xml" Id="R68c0d2318cb643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Principal</c:v>
          </c:tx>
          <c:dPt>
            <c:idx val="0"/>
            <c:spPr>
              <a:solidFill xmlns:a="http://schemas.openxmlformats.org/drawingml/2006/main">
                <a:srgbClr val="0E1824"/>
              </a:solidFill>
            </c:spPr>
          </c:dPt>
          <c:dPt>
            <c:idx val="1"/>
            <c:spPr>
              <a:solidFill xmlns:a="http://schemas.openxmlformats.org/drawingml/2006/main">
                <a:srgbClr val="7D9455"/>
              </a:solidFill>
            </c:spPr>
          </c:dPt>
          <c:dPt>
            <c:idx val="2"/>
            <c:spPr>
              <a:solidFill xmlns:a="http://schemas.openxmlformats.org/drawingml/2006/main">
                <a:srgbClr val="A9B892"/>
              </a:solidFill>
            </c:spPr>
          </c:dPt>
          <c:dPt>
            <c:idx val="3"/>
            <c:spPr>
              <a:solidFill xmlns:a="http://schemas.openxmlformats.org/drawingml/2006/main">
                <a:srgbClr val="69737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Linhas bancárias</c:v>
                </c:pt>
                <c:pt idx="1">
                  <c:v>Debêntures CDI</c:v>
                </c:pt>
                <c:pt idx="2">
                  <c:v>Debêntures IPCA</c:v>
                </c:pt>
                <c:pt idx="3">
                  <c:v>Debênture prefixada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2416.994</c:v>
                </c:pt>
                <c:pt idx="1">
                  <c:v>2172.858</c:v>
                </c:pt>
                <c:pt idx="2">
                  <c:v>743.955</c:v>
                </c:pt>
                <c:pt idx="3">
                  <c:v>408.703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E1824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6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9737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Principal contratual</c:v>
          </c:tx>
          <c:spPr>
            <a:solidFill xmlns:a="http://schemas.openxmlformats.org/drawingml/2006/main">
              <a:srgbClr val="0E1824"/>
            </a:solidFill>
          </c:spPr>
          <c:cat>
            <c:strRef>
              <c:f>'Chart Data'!$A$2:$A$7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1234.476</c:v>
                </c:pt>
                <c:pt idx="1">
                  <c:v>779.804</c:v>
                </c:pt>
                <c:pt idx="2">
                  <c:v>1229.475</c:v>
                </c:pt>
                <c:pt idx="3">
                  <c:v>695.013</c:v>
                </c:pt>
                <c:pt idx="4">
                  <c:v>994.544</c:v>
                </c:pt>
                <c:pt idx="5">
                  <c:v>809.198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E18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A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DD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Cobertura de liquidez</c:v>
          </c:tx>
          <c:spPr>
            <a:ln xmlns:a="http://schemas.openxmlformats.org/drawingml/2006/main" w="38100">
              <a:solidFill>
                <a:srgbClr val="0E1824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E1824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1.46x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1.39x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1.16x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1.01x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0.85x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25" b="1">
                        <a:solidFill>
                          <a:srgbClr val="0E1824"/>
                        </a:solidFill>
                        <a:latin typeface="Arial"/>
                        <a:ea typeface="Arial"/>
                        <a:cs typeface="Arial"/>
                      </a:rPr>
                      <a:t>0.67x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25" b="1">
                      <a:solidFill>
                        <a:srgbClr val="0E1824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Data'!$B$2:$B$7</c:f>
              <c:numCache>
                <c:formatCode>0.00x</c:formatCode>
                <c:ptCount val="6"/>
                <c:pt idx="0">
                  <c:v>1.457</c:v>
                </c:pt>
                <c:pt idx="1">
                  <c:v>1.39</c:v>
                </c:pt>
                <c:pt idx="2">
                  <c:v>1.157</c:v>
                </c:pt>
                <c:pt idx="3">
                  <c:v>1.011</c:v>
                </c:pt>
                <c:pt idx="4">
                  <c:v>0.851</c:v>
                </c:pt>
                <c:pt idx="5">
                  <c:v>0.671</c:v>
                </c:pt>
              </c:numCache>
            </c:numRef>
          </c:val>
        </c:ser>
        <c:ser>
          <c:idx val="1"/>
          <c:order val="1"/>
          <c:tx>
            <c:v>Referência 1,0x</c:v>
          </c:tx>
          <c:spPr>
            <a:ln xmlns:a="http://schemas.openxmlformats.org/drawingml/2006/main" w="19050">
              <a:solidFill>
                <a:srgbClr val="A8483E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Data'!$D$2:$D$7</c:f>
              <c:numCache>
                <c:formatCode>0.00x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DD8"/>
              </a:solidFill>
            </a:ln>
          </c:spPr>
        </c:majorGridlines>
        <c:numFmt formatCode="0.00x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9737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Caixa final</c:v>
          </c:tx>
          <c:spPr>
            <a:ln xmlns:a="http://schemas.openxmlformats.org/drawingml/2006/main" w="38100">
              <a:solidFill>
                <a:srgbClr val="0E1824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E1824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956.6</c:v>
                </c:pt>
                <c:pt idx="1">
                  <c:v>660.6</c:v>
                </c:pt>
                <c:pt idx="2">
                  <c:v>341.4</c:v>
                </c:pt>
                <c:pt idx="3">
                  <c:v>17.5</c:v>
                </c:pt>
                <c:pt idx="4">
                  <c:v>-308.7</c:v>
                </c:pt>
                <c:pt idx="5">
                  <c:v>-665</c:v>
                </c:pt>
              </c:numCache>
            </c:numRef>
          </c:val>
        </c:ser>
        <c:ser>
          <c:idx val="1"/>
          <c:order val="1"/>
          <c:tx>
            <c:v>Piso de caixa</c:v>
          </c:tx>
          <c:spPr>
            <a:ln xmlns:a="http://schemas.openxmlformats.org/drawingml/2006/main" w="19050">
              <a:solidFill>
                <a:srgbClr val="A8483E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Data'!$D$2:$D$7</c:f>
              <c:numCache>
                <c:formatCode>0</c:formatCode>
                <c:ptCount val="6"/>
                <c:pt idx="0">
                  <c:v>900</c:v>
                </c:pt>
                <c:pt idx="1">
                  <c:v>900</c:v>
                </c:pt>
                <c:pt idx="2">
                  <c:v>900</c:v>
                </c:pt>
                <c:pt idx="3">
                  <c:v>900</c:v>
                </c:pt>
                <c:pt idx="4">
                  <c:v>900</c:v>
                </c:pt>
                <c:pt idx="5">
                  <c:v>900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9737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Alavancagem líquida</c:v>
          </c:tx>
          <c:spPr>
            <a:ln xmlns:a="http://schemas.openxmlformats.org/drawingml/2006/main" w="38100">
              <a:solidFill>
                <a:srgbClr val="7D945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7D9455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2026/27</c:v>
                </c:pt>
                <c:pt idx="1">
                  <c:v>2027/28</c:v>
                </c:pt>
                <c:pt idx="2">
                  <c:v>2028/29</c:v>
                </c:pt>
                <c:pt idx="3">
                  <c:v>2029/30</c:v>
                </c:pt>
                <c:pt idx="4">
                  <c:v>2030/31</c:v>
                </c:pt>
                <c:pt idx="5">
                  <c:v>Após 2031</c:v>
                </c:pt>
              </c:strCache>
            </c:strRef>
          </c:cat>
          <c:val>
            <c:numRef>
              <c:f>'Chart Data'!$B$2:$B$7</c:f>
              <c:numCache>
                <c:formatCode>0.0x</c:formatCode>
                <c:ptCount val="6"/>
                <c:pt idx="0">
                  <c:v>5.404</c:v>
                </c:pt>
                <c:pt idx="1">
                  <c:v>5.672</c:v>
                </c:pt>
                <c:pt idx="2">
                  <c:v>5.955</c:v>
                </c:pt>
                <c:pt idx="3">
                  <c:v>6.232</c:v>
                </c:pt>
                <c:pt idx="4">
                  <c:v>6.501</c:v>
                </c:pt>
                <c:pt idx="5">
                  <c:v>6.77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7D9455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.2"/>
          <c:min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DD8"/>
              </a:solidFill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</c:plotArea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4c6032fd94652"/>
          <a:stretch xmlns:a="http://schemas.openxmlformats.org/drawingml/2006/main"/>
        </p:blipFill>
        <p:spPr>
          <a:xfrm xmlns:a="http://schemas.openxmlformats.org/drawingml/2006/main">
            <a:off x="628650" y="514350"/>
            <a:ext cx="2381250" cy="800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9BE48-0E48-482F-AA1A-D85DB86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Estrutura de capital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para discussão com o Conselho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AB41E-4887-47BB-95F0-D6F5AA5B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E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EE5"/>
                </a:solidFill>
                <a:latin typeface="Arial"/>
                <a:ea typeface="Arial"/>
                <a:cs typeface="Arial"/>
              </a:rPr>
              <a:t>Camil Alimentos S.A.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DD55C-463A-4AE8-8412-AE496DD1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3BD"/>
                </a:solidFill>
                <a:latin typeface="Arial"/>
                <a:ea typeface="Arial"/>
                <a:cs typeface="Arial"/>
              </a:rPr>
              <a:t>Data-base 2026-05-31 | Mercado 2026-09-04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83F4-49CD-4CD9-A6DC-DF1A8FF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2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2D8"/>
                </a:solidFill>
                <a:latin typeface="Arial"/>
                <a:ea typeface="Arial"/>
                <a:cs typeface="Arial"/>
              </a:rPr>
              <a:t>Material de referência produzido a partir de dados públicos e fixtures gerenciais sintéticas. Não constitui recomendação, oferta ou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27D11-8520-4DE2-A277-FA6D38B9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6919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91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2012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206E0-5F64-4934-A606-45AFA508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4C40-D8B8-475D-AAA9-FE63C20E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A decisão ainda depende de dados que mudam a economia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93522-0740-40C8-A53F-196537ED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1205E-DAD2-4CAF-8321-2C1C43B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F342-CBE1-4149-B12E-198DD33F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2A9FF-00AF-4195-90D1-C4180DAE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O diagnóstico atual sustenta uma discussão sobre liquidez e perfil de vencimentos. Ainda não sustenta ranking, sizing ou termos finais.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33750"/>
                <a:gridCol w="5067300"/>
              </a:tblGrid>
              <a:tr h="666750">
                <a:tc>
                  <a:txBody>
                    <a:bodyPr/>
                    <a:lstStyle/>
                    <a:p>
                      <a:r>
                        <a:t>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 que está sustentado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Limite material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Fatos públicos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Dívida, caixa, vencimentos e remuneração por série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Cronograma público mistura bases contábeis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Dados gerenciais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Orçamento, capex, caixa mínimo e cronograma contratual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Todos são sintéticos nesta fixture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Cenários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Rollover, caixa, cobertura, DSCR e alavancagem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Preço futuro e execução não são observados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Decisão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Questões e alternativas para orientar o Conselho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Covenants, saída e tributos bloqueiam recomendação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0E58-CE81-45E6-8EAD-5284162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Regra do 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EE51-FA50-4AF7-89E0-5238270A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E18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E1824"/>
                </a:solidFill>
                <a:latin typeface="Arial"/>
                <a:ea typeface="Arial"/>
                <a:cs typeface="Arial"/>
              </a:rPr>
              <a:t>Todo número mantém unidade, período, estado de evidência e caminho até a fonte ou premissa.</a:t>
            </a:r>
          </a:p>
        </p:txBody>
      </p:sp>
    </p:spTree>
    <p:extLst>
      <p:ext uri="{BB962C8B-B14F-4D97-AF65-F5344CB8AC3E}">
        <p14:creationId xmlns:p14="http://schemas.microsoft.com/office/powerpoint/2010/main" val="824174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7F55F-3D85-44B6-8FBC-F468CCA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43032-1756-4222-BB03-6C63F22E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0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Dívida contratual de R$ 5,74 bi combina bancos e quatro perfis de debêntures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CBF56-3B5F-45CB-9784-5B7489D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38BA6-6ABC-43AA-9326-54BF47A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0F2B2-62B0-4306-864B-DC790BF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fa31436c52413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3801E-3497-4DDB-AFFF-BE346600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43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Principal contratual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A9191-CD0E-4FC6-904F-441AB37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33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R$ 5.742,5 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509FF-426D-4180-A0DC-898B13B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24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Dívida contábil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9DE2B-0A7B-4791-9270-8B67205F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14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R$ 5.670,2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3FE26-62B1-4661-8C0A-48D33AFF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05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Caixa operacional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EEE66-7B3D-4177-89C4-A7B55075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95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R$ 1.430,7 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CBE7D-E2F4-41CB-B127-92FE9AF8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86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Dívida líquida contratual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8F85-BCC0-45B5-AFAF-64B5286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76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R$ 4.228,5 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11F22-57F4-4D8B-A824-6289EE2A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Alavancagem divulgada pro forma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3D621-540F-4D38-A740-201FA31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4,72x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38365-8754-4C8B-B2AC-2FA8983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572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483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483E"/>
                </a:solidFill>
                <a:latin typeface="Arial"/>
                <a:ea typeface="Arial"/>
                <a:cs typeface="Arial"/>
              </a:rPr>
              <a:t>4,72x é indicador divulgado pela companhia e não foi recomputado sem a definição contratual integral.</a:t>
            </a:r>
          </a:p>
        </p:txBody>
      </p:sp>
    </p:spTree>
    <p:extLst>
      <p:ext uri="{BB962C8B-B14F-4D97-AF65-F5344CB8AC3E}">
        <p14:creationId xmlns:p14="http://schemas.microsoft.com/office/powerpoint/2010/main" val="407762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F0425-3665-438C-96BD-B92FC76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45048-6F3F-4657-B855-8B081D16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8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O cronograma exige refinanciamento já em 2026/27 e volta a subir em 2028/29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1962A-7DFA-4209-B819-97E6A05C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5DDF6-5E09-4720-A6C6-8912364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12AB1-947E-416B-BC7A-C7CF0374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131ecea024986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953375" y="1524000"/>
          <a:ext xmlns:a="http://schemas.openxmlformats.org/drawingml/2006/main" cx="33337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24000"/>
              </a:tblGrid>
              <a:tr h="435429">
                <a:tc>
                  <a:txBody>
                    <a:bodyPr/>
                    <a:lstStyle/>
                    <a:p>
                      <a:r>
                        <a:t>Período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R$ mi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2026/27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1234.5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2027/28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779.8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2028/29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1229.5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2029/30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2030/31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994.5</a:t>
                      </a:r>
                    </a:p>
                  </a:txBody>
                  <a:tcPr marL="91440" marR="91440" marT="45720" marB="45720"/>
                </a:tc>
              </a:tr>
              <a:tr h="435429">
                <a:tc>
                  <a:txBody>
                    <a:bodyPr/>
                    <a:lstStyle/>
                    <a:p>
                      <a:r>
                        <a:t>Após 2031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809.2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E1B9-FC0F-432B-9ED4-ED93595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Ponte para o cronograma público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4468-54EA-49BD-9075-602C982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244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E18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E1824"/>
                </a:solidFill>
                <a:latin typeface="Arial"/>
                <a:ea typeface="Arial"/>
                <a:cs typeface="Arial"/>
              </a:rPr>
              <a:t>Custos de transação nas linhas: R$ 9,1 mi. Custos das debêntures no cronograma: R$ 63,2 mi.</a:t>
            </a:r>
          </a:p>
        </p:txBody>
      </p:sp>
    </p:spTree>
    <p:extLst>
      <p:ext uri="{BB962C8B-B14F-4D97-AF65-F5344CB8AC3E}">
        <p14:creationId xmlns:p14="http://schemas.microsoft.com/office/powerpoint/2010/main" val="1645695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10551-CC01-4F2E-9538-A9585291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D9221-9D2B-4A00-AFF4-E32D091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6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Rollover integral preserva caixa no curto prazo, mas a cobertura cai abaixo de 1,0x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F0F8F-146A-4552-AAA5-AC7208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3CFA2-CB62-4AB7-AA7A-F20CB62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F4463-3023-4615-9902-AB860F49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9a6e82d9274283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0" y="1428750"/>
          <a:ext xmlns:a="http://schemas.openxmlformats.org/drawingml/2006/main" cx="319087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000125"/>
                <a:gridCol w="1000125"/>
              </a:tblGrid>
              <a:tr h="462643">
                <a:tc>
                  <a:txBody>
                    <a:bodyPr/>
                    <a:lstStyle/>
                    <a:p>
                      <a:r>
                        <a:t>Período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DSCR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Liq.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2026/27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1.46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2027/28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1.39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2028/29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1.16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2029/30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2030/31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0.85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Após 2031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E77C0-6358-4BE4-97A4-0A6A2CC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 custo da rolagem importa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023C-3BFE-4318-8135-E6521602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8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E1824"/>
                </a:solidFill>
                <a:latin typeface="Arial"/>
                <a:ea typeface="Arial"/>
                <a:cs typeface="Arial"/>
              </a:rPr>
              <a:t>A dívida refinanciada paga CDI + 1,50% no cenário e acumula ao longo do horizonte. Refinanciar principal não elimina o serviço futuro.</a:t>
            </a:r>
          </a:p>
        </p:txBody>
      </p:sp>
    </p:spTree>
    <p:extLst>
      <p:ext uri="{BB962C8B-B14F-4D97-AF65-F5344CB8AC3E}">
        <p14:creationId xmlns:p14="http://schemas.microsoft.com/office/powerpoint/2010/main" val="16416632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A83A6-4C58-4F6B-8920-F83CE98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6501E-63B5-47D3-B426-16E8E42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Caixa fica negativo em 2030/31 e a alavancagem alcança 6,77x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8ABF7-6443-4837-9B1E-C73EE36B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7E7B2-9F6C-4D45-AE86-194C51E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B6B85-E7D9-435D-89E6-D576EA3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561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0c143ce46b490c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572250" y="1428750"/>
          <a:ext xmlns:a="http://schemas.openxmlformats.org/drawingml/2006/main" cx="4762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2dd2d1263c44c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33705-DB9C-4A46-91B5-AFE2FCB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8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E1824"/>
                </a:solidFill>
                <a:latin typeface="Arial"/>
                <a:ea typeface="Arial"/>
                <a:cs typeface="Arial"/>
              </a:rPr>
              <a:t>O cenário não autoriza concluir qual estrutura resolve o problema. Ele demonstra que prazo, custo, amortização, capex, dividendos e desempenho operacional precisam ser avaliados em conjunto.</a:t>
            </a:r>
          </a:p>
        </p:txBody>
      </p:sp>
    </p:spTree>
    <p:extLst>
      <p:ext uri="{BB962C8B-B14F-4D97-AF65-F5344CB8AC3E}">
        <p14:creationId xmlns:p14="http://schemas.microsoft.com/office/powerpoint/2010/main" val="1771434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7FE16-75DB-481C-85E5-B829C8ED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885C9-F824-495C-9CCF-85CD9C0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Seis lacunas materiais impedem uma recomendação de estrutura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6830-2819-41B2-BC60-1B28C671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85754-3787-4567-B4BD-48F3043D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D3D0F-26D1-4FF0-9351-6858C60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00250"/>
                <a:gridCol w="4476750"/>
                <a:gridCol w="3067050"/>
              </a:tblGrid>
              <a:tr h="530679">
                <a:tc>
                  <a:txBody>
                    <a:bodyPr/>
                    <a:lstStyle/>
                    <a:p>
                      <a:r>
                        <a:t>Materialidade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Informação ausente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 que fica bloqueado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Bloqueante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Covenant prospectivo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Definição de EBITDA, ajustes, caixa e degrau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Headroom e cumprimento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Bloqueante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Custo de saída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Principal, juros, encargos e pré-pagamento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Ranking de retirada de dívida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Curva de juros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Curva DI futura e hedge por instrumento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Juros prospectivos como preço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Modelo integrado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Histórico por linha e projeções integradas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Balanço e fluxo de caixa completos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Tributos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Regime tributário e efeitos da reforma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Comparação após impostos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Liquidez intraperíodo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Sazonalidade mensal e disponibilidade D0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Picos de liquidez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07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04B64-0B3B-4FC1-93FC-2BE28F7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B83DB-2B0C-4127-A225-F4E50FBD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8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As alternativas organizam a discussão, mas ainda não podem ser ranqueadas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8908C-6AB0-4A83-983D-320D108A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A53A-73DF-44A7-BB01-102F3D1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D87A-87B4-4050-998E-F2C37D71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524000"/>
                <a:gridCol w="3667125"/>
                <a:gridCol w="3619500"/>
              </a:tblGrid>
              <a:tr h="666750">
                <a:tc>
                  <a:txBody>
                    <a:bodyPr/>
                    <a:lstStyle/>
                    <a:p>
                      <a:r>
                        <a:t>Alternativa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Pergunta para o Conselho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Condição antes de avançar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Manter estrutura e rolar linhas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Referência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companhia aceita rolagem integral nos anos de menor folga?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Capacidade, preço e prazo ainda não contratados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Alongar o pico de 2028/29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Bloqueada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redução do pico compensa custo e menor flexibilidade?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 de liquidação e saída da 13ª 1ª série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Alongar os picos de 2028/29 e 2029/30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Bloqueada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Uma transação maior reduz execução sem concentrar preço e covenants?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Liquidação e saída da 13ª 1ª e 14ª 1ª séries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Amortizar linhas com caixa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Bloqueada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 caixa excede o piso e qual é o custo de pré-pagamento?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Pré-pagamento e liquidez das aplicações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Oferta de resgate da 11ª emissão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Bloqueada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Existe adesão econômica para uma saída negociada?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Prêmio e adesão de 100% da série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58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6C8D5-E990-4F44-9C28-98FBBBA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OFFROAD  |  ESTRUTURA DE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80390-B0FD-4C04-A63C-D69162F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6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O Conselho precisa escolher a tolerância ao risco antes de definir a transação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728EB-1F4B-4199-A8C6-14A046E5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BD571-1624-4A61-B91E-1CEBD75B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Camil Alimentos S.A. | 2026-05-31 | R$ milhões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781D6-6B18-49D3-BDC6-8683E85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37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37E"/>
                </a:solidFill>
                <a:latin typeface="Arial"/>
                <a:ea typeface="Arial"/>
                <a:cs typeface="Arial"/>
              </a:rPr>
              <a:t>Fixture sintética para validação da plataforma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67250"/>
                <a:gridCol w="3924300"/>
              </a:tblGrid>
              <a:tr h="571500">
                <a:tc>
                  <a:txBody>
                    <a:bodyPr/>
                    <a:lstStyle/>
                    <a:p>
                      <a:r>
                        <a:t>Decisão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Questão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Informação que fecha a análise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Liquidez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 caixa mínimo e qual folga mensal são aceitáveis?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Caixa D0, sazonalidade e linhas comprometidas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Perfil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Quanto risco de refinanciamento a companhia aceita?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Apetite por prazo, amortização e indexador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Flexibilidade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Quais planos operacionais não podem ser restringidos?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Capex, M&amp;A, dividendos e garantias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Economia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 custo total justifica retirar ou alongar dívida?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Preço, saída, tributos e hedge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Execução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 rota oferece maior probabilidade de fechamento?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Rating, mandato, investidores e cronograma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DFFD9-1E16-47EA-AF4D-6D3282A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94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D9455"/>
                </a:solidFill>
                <a:latin typeface="Arial"/>
                <a:ea typeface="Arial"/>
                <a:cs typeface="Arial"/>
              </a:rPr>
              <a:t>Próximo passo de trabalho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5FD2F-3513-42BD-AF3A-37092FA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824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0E1824"/>
                </a:solidFill>
                <a:latin typeface="Georgia"/>
                <a:ea typeface="Georgia"/>
                <a:cs typeface="Georgia"/>
              </a:rPr>
              <a:t>Fechar as seis lacunas, recalcular Base e Downside, comparar as alternativas na mesma métrica e preparar o material no template definitivo da companhia.</a:t>
            </a:r>
          </a:p>
        </p:txBody>
      </p:sp>
    </p:spTree>
    <p:extLst>
      <p:ext uri="{BB962C8B-B14F-4D97-AF65-F5344CB8AC3E}">
        <p14:creationId xmlns:p14="http://schemas.microsoft.com/office/powerpoint/2010/main" val="326380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2026-09-07T09:00:19.9130000Z</dcterms:created>
  <dcterms:modified xsi:type="dcterms:W3CDTF">2026-09-07T09:00:19.9130000Z</dcterms:modified>
</coreProperties>
</file>